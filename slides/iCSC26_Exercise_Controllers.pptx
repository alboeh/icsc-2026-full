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8" r:id="rId2"/>
    <p:sldId id="259" r:id="rId3"/>
    <p:sldId id="454" r:id="rId4"/>
    <p:sldId id="269" r:id="rId5"/>
    <p:sldId id="274" r:id="rId6"/>
    <p:sldId id="455" r:id="rId7"/>
    <p:sldId id="260" r:id="rId8"/>
    <p:sldId id="267" r:id="rId9"/>
    <p:sldId id="263" r:id="rId10"/>
    <p:sldId id="456" r:id="rId11"/>
    <p:sldId id="458" r:id="rId12"/>
    <p:sldId id="457" r:id="rId13"/>
    <p:sldId id="270" r:id="rId14"/>
    <p:sldId id="266" r:id="rId15"/>
    <p:sldId id="464" r:id="rId16"/>
    <p:sldId id="459" r:id="rId17"/>
    <p:sldId id="461" r:id="rId18"/>
    <p:sldId id="463" r:id="rId19"/>
    <p:sldId id="261" r:id="rId20"/>
    <p:sldId id="268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20C"/>
    <a:srgbClr val="0708FF"/>
    <a:srgbClr val="438DCC"/>
    <a:srgbClr val="E8E8E8"/>
    <a:srgbClr val="007C00"/>
    <a:srgbClr val="8DBE11"/>
    <a:srgbClr val="7C007C"/>
    <a:srgbClr val="1A1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44241-A932-DE46-8557-BA872F9C13F6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BF6E7-1A5A-AA47-938D-EE719F7A138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45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08947-C48B-B6D1-E672-591213CAC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280A66-B99D-01EA-E8F6-38D00DACB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Master-</a:t>
            </a:r>
            <a:r>
              <a:rPr lang="en-US" noProof="0" dirty="0" err="1"/>
              <a:t>Untertitelformat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22DC6E-8091-8787-14A5-6DC56ABA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BA165B-142D-954D-FD90-204F0F73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iCSC 2026 || Alexander Böhmer       alexander.boehmer@oeaw.ac.at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A3743-0277-2BE6-3124-BD8822DB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US" noProof="0" smtClean="0"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332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448AE2-59CE-8356-7EFD-A042DD6D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Mastertitelformat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A3EE6D-6692-1375-5A50-F90AE6E9F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/>
              <a:t>Zweite Ebene</a:t>
            </a:r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Ebene</a:t>
            </a:r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Ebene</a:t>
            </a:r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2B62BD-2FB4-CEEF-192F-8D1ED87F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360373-DCC3-BB7D-AEA8-D726D04B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C3803D-2948-D333-6723-924DD006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noProof="0" smtClean="0"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0435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B84DC-8C34-D139-B50D-EE1B27AB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CDD89-0CAF-C94A-181B-C4DE6973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0D6000-7B08-EC08-A659-AFDB6713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41E548-0F11-A44C-3AED-E8DA09C5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B255D8-6836-803C-CCB1-04DA4851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79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973C2-9629-36E3-FE7D-7B60D309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67D010-E3D9-447F-29D1-474E68EB9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75405B-2248-55C3-4075-4B8B5C0B0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8048A2-C8EE-6E1C-81F4-4C651B50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F919EB-A976-8B10-4D46-C155833A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682683-081D-5D29-3A0C-5D5F1A39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16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31D46-44BA-E573-8072-6DB774E50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A4CAEE-6314-409C-A542-3E5C6713A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0ADAB1-E10A-2FE8-961B-92AD2AA0A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E8E29D-35D5-0CF7-59B7-DF3F12278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49307F-563B-116A-042E-5DFD6F827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807916-944C-AB30-E746-0CB7AC0B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E9220D-5D5E-E367-2DA4-48404836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47C4C4-B0D8-EF39-464B-3FF2B5CD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69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EA7A06-46E5-E228-E638-F151FEB7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D7BE47-9BA8-775C-189F-6C7A62ED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B57B628-2CF5-9325-1842-9AF7914D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BD8856-906E-D224-7667-62BDF02A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00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D51DAF-D0AF-F0D0-7E89-3480999A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40B0A9-1D3B-E8EC-75A7-2F3CB8B2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F83915-A4CF-2F30-8FBA-78980B75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2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59E2D-7B04-9FCA-55B2-B23F4DCB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4962F3-BE18-02DF-CC65-069E0C25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49629D-5D2E-C5CE-DDB3-8C11D1D78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440C90-1DE8-398A-FA44-41534518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220A65-FC48-3FEA-FFEC-E25494BF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7D0A69-39A2-E231-B267-7815AE07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42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F9223-817C-028E-AACB-2DFC2DF8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6F8020-830A-EFD5-2242-7792E8CEB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F7B5D4-CEF5-2F9C-E293-F67E95D30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E659C-12F9-B79D-D5E6-559DC7C0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EC816E-CE6C-576E-DCB0-8F9EE4C4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2A9C9-4870-9F08-EF10-476A84E8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97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8AADF-687F-C162-70A9-8F02CCA0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A6D372-5C2A-E02B-0CC9-21232744D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3F6E2-1160-8B49-0999-6A0C8AC2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56B009-9B84-DAC2-1D3E-7BDD0EAA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4FC436-CF12-617D-ABC4-5C2816AF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5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F79F01-C87C-A082-0BF4-BF1251AF1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8E17B8-1707-9B28-CE04-5A1811B51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DCBA42-BB71-562B-471E-A28D5B96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DF83D3-4A26-25EB-31D4-C922B190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60A52E-36B0-450B-E8B6-A933063D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44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5E0261-F2CD-AE79-3E70-019338EF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70B199-B126-89B4-8575-D7F29D805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A6333F-B346-B483-955F-A73618170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7B4B5B-8677-3AD8-C40E-D10E97B7B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iCSC 2026 || Alexander Böhmer       alexander.boehmer@oeaw.ac.at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99728-04CD-8B99-9FFF-5111352B5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C968B-1435-F949-9684-2395274A9FF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4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boeh/iCSC-2026-exercise.gi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wan.cern.c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boeh/iCSC-2026-full.git" TargetMode="External"/><Relationship Id="rId2" Type="http://schemas.openxmlformats.org/officeDocument/2006/relationships/hyperlink" Target="https://www.youtube.com/watch?v=Rh7JuL3PRS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569C7-29E0-FC15-3127-B86F7A5A6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Keeping Things Stable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3EF0AB6-5E18-F220-83F9-F320F2B7CE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How Controllers Tackle Complexity in Modern Physics</a:t>
            </a:r>
          </a:p>
          <a:p>
            <a:r>
              <a:rPr lang="en-US" dirty="0"/>
              <a:t>EXERCISE</a:t>
            </a:r>
            <a:endParaRPr lang="en-US" noProof="0" dirty="0"/>
          </a:p>
        </p:txBody>
      </p:sp>
      <p:pic>
        <p:nvPicPr>
          <p:cNvPr id="6" name="Picture 2" descr="Akademie im Klassenzimmer">
            <a:extLst>
              <a:ext uri="{FF2B5EF4-FFF2-40B4-BE49-F238E27FC236}">
                <a16:creationId xmlns:a16="http://schemas.microsoft.com/office/drawing/2014/main" id="{589AB130-B4C3-7697-4027-8FB509B1A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137046"/>
            <a:ext cx="167999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DD4C201-0403-B728-A42C-4C523AEF3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247" y="5149477"/>
            <a:ext cx="2475372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ERN School of Computing | Geneva">
            <a:extLst>
              <a:ext uri="{FF2B5EF4-FFF2-40B4-BE49-F238E27FC236}">
                <a16:creationId xmlns:a16="http://schemas.microsoft.com/office/drawing/2014/main" id="{136A9CA0-BFD4-CE23-F315-783069095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785" y="4798055"/>
            <a:ext cx="1422843" cy="14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nomalies and Precision in the Belle II Era - Workshop (8-10 September  2025): Overview · Indico Global">
            <a:extLst>
              <a:ext uri="{FF2B5EF4-FFF2-40B4-BE49-F238E27FC236}">
                <a16:creationId xmlns:a16="http://schemas.microsoft.com/office/drawing/2014/main" id="{BDEB1A28-9562-EC5A-EFCA-7FFA62E08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07" y="4961615"/>
            <a:ext cx="2416193" cy="98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910E1D5-295C-6787-7E36-736B5B89B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13" y="510022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B7E4F7B9-558A-985F-3ADD-A90AC117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US" noProof="0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D4E419E-7DF7-7444-EB88-0AFFFC09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iCSC 2026 || Alexander Böhmer       alexander.boehmer@oeaw.ac.at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711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91032-99FB-11C6-565B-8FDE8626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CA030-B649-4613-7B76-88184E157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Exercises</a:t>
            </a:r>
          </a:p>
          <a:p>
            <a:pPr lvl="1"/>
            <a:r>
              <a:rPr lang="en-US" dirty="0"/>
              <a:t>1: PID</a:t>
            </a:r>
          </a:p>
          <a:p>
            <a:pPr lvl="1"/>
            <a:r>
              <a:rPr lang="en-US" dirty="0"/>
              <a:t>2: LQR</a:t>
            </a:r>
          </a:p>
          <a:p>
            <a:r>
              <a:rPr lang="en-US" dirty="0"/>
              <a:t>Competition</a:t>
            </a:r>
          </a:p>
          <a:p>
            <a:r>
              <a:rPr lang="en-US" dirty="0"/>
              <a:t>Discussion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F003DA-D162-7153-99A3-E4F03DB8E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9E46B-6FA8-01B4-C809-27912A9A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5858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07FE-B266-E70B-0980-C1A9D050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71900-860B-ADFF-3E5C-48FFCB85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Inverted pendulum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3F538D03-1756-E80D-1D24-749ED694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92D035E-3D96-948E-8D90-D4A950F6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13E3875-800C-A3CD-DAE9-FE240B66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968B-1435-F949-9684-2395274A9FFC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11" name="Grafik 10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A276734B-E3B8-2318-15DB-9BA3444FF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0" y="1690688"/>
            <a:ext cx="5727700" cy="4493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8FD8FCB-8ABF-A5ED-EE13-8EAEFB8737D6}"/>
                  </a:ext>
                </a:extLst>
              </p:cNvPr>
              <p:cNvSpPr txBox="1"/>
              <p:nvPr/>
            </p:nvSpPr>
            <p:spPr>
              <a:xfrm>
                <a:off x="586798" y="4278087"/>
                <a:ext cx="40816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4"/>
                    </a:solidFill>
                  </a:rPr>
                  <a:t>Actor (</a:t>
                </a:r>
                <a14:m>
                  <m:oMath xmlns:m="http://schemas.openxmlformats.org/officeDocument/2006/math">
                    <m:r>
                      <a:rPr lang="de-AT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)</a:t>
                </a:r>
                <a:endParaRPr lang="en-US" sz="2400" noProof="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8FD8FCB-8ABF-A5ED-EE13-8EAEFB873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98" y="4278087"/>
                <a:ext cx="4081607" cy="461665"/>
              </a:xfrm>
              <a:prstGeom prst="rect">
                <a:avLst/>
              </a:prstGeom>
              <a:blipFill>
                <a:blip r:embed="rId3"/>
                <a:stretch>
                  <a:fillRect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7CC541B5-23C4-4501-9364-B5E4893687AC}"/>
              </a:ext>
            </a:extLst>
          </p:cNvPr>
          <p:cNvCxnSpPr>
            <a:cxnSpLocks/>
          </p:cNvCxnSpPr>
          <p:nvPr/>
        </p:nvCxnSpPr>
        <p:spPr>
          <a:xfrm flipV="1">
            <a:off x="3345873" y="3598975"/>
            <a:ext cx="1953491" cy="67911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7136475-2E1B-D951-15D0-3FEE9AE8D09E}"/>
                  </a:ext>
                </a:extLst>
              </p:cNvPr>
              <p:cNvSpPr txBox="1"/>
              <p:nvPr/>
            </p:nvSpPr>
            <p:spPr>
              <a:xfrm>
                <a:off x="6112596" y="1180653"/>
                <a:ext cx="40816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5"/>
                    </a:solidFill>
                  </a:rPr>
                  <a:t>Sensor (</a:t>
                </a:r>
                <a14:m>
                  <m:oMath xmlns:m="http://schemas.openxmlformats.org/officeDocument/2006/math">
                    <m:r>
                      <a:rPr lang="de-AT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solidFill>
                      <a:schemeClr val="accent5"/>
                    </a:solidFill>
                  </a:rPr>
                  <a:t>)</a:t>
                </a:r>
                <a:endParaRPr lang="en-US" sz="2400" noProof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7136475-2E1B-D951-15D0-3FEE9AE8D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596" y="1180653"/>
                <a:ext cx="4081607" cy="461665"/>
              </a:xfrm>
              <a:prstGeom prst="rect">
                <a:avLst/>
              </a:prstGeom>
              <a:blipFill>
                <a:blip r:embed="rId4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78C38F9-A7AB-BC95-67B8-0B4100A413FE}"/>
              </a:ext>
            </a:extLst>
          </p:cNvPr>
          <p:cNvCxnSpPr>
            <a:cxnSpLocks/>
          </p:cNvCxnSpPr>
          <p:nvPr/>
        </p:nvCxnSpPr>
        <p:spPr>
          <a:xfrm flipH="1">
            <a:off x="5829300" y="1496291"/>
            <a:ext cx="1527464" cy="108286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3B559987-D66D-1E41-69D3-4439F5196692}"/>
              </a:ext>
            </a:extLst>
          </p:cNvPr>
          <p:cNvSpPr txBox="1"/>
          <p:nvPr/>
        </p:nvSpPr>
        <p:spPr>
          <a:xfrm>
            <a:off x="9489190" y="6079351"/>
            <a:ext cx="186460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600" b="1" noProof="0" dirty="0"/>
              <a:t>Source: </a:t>
            </a:r>
            <a:r>
              <a:rPr lang="en-US" sz="600" noProof="0" dirty="0"/>
              <a:t>STMicroelectronics, STSW-EDUKIT01 (graphic on product page); accessed 16 Feb 2026.</a:t>
            </a:r>
          </a:p>
        </p:txBody>
      </p:sp>
    </p:spTree>
    <p:extLst>
      <p:ext uri="{BB962C8B-B14F-4D97-AF65-F5344CB8AC3E}">
        <p14:creationId xmlns:p14="http://schemas.microsoft.com/office/powerpoint/2010/main" val="404250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25D0-0132-7C29-E316-DC2C5E32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B7D48-EAB6-F8F6-DF0C-E259F150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procedure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164FC5-CC77-A146-3EF5-42378BBFB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in teams of 2 (max 3) people</a:t>
            </a:r>
          </a:p>
          <a:p>
            <a:pPr lvl="1"/>
            <a:r>
              <a:rPr lang="en-US" dirty="0"/>
              <a:t>Ideally: One is good in python, other one good in math.</a:t>
            </a:r>
          </a:p>
          <a:p>
            <a:pPr lvl="1"/>
            <a:endParaRPr lang="en-US" dirty="0"/>
          </a:p>
          <a:p>
            <a:r>
              <a:rPr lang="en-US" dirty="0"/>
              <a:t>Python notebook with a simulation of the inverted pendulum</a:t>
            </a:r>
          </a:p>
          <a:p>
            <a:pPr lvl="1"/>
            <a:r>
              <a:rPr lang="en-US" dirty="0"/>
              <a:t>It contains 2 examples to click through and 2 exercises (PID and LQR)</a:t>
            </a:r>
          </a:p>
          <a:p>
            <a:pPr lvl="1"/>
            <a:r>
              <a:rPr lang="en-US" dirty="0"/>
              <a:t>Just change code where </a:t>
            </a:r>
            <a:r>
              <a:rPr lang="en-US" b="1" dirty="0"/>
              <a:t>#TODO </a:t>
            </a:r>
            <a:r>
              <a:rPr lang="en-US" dirty="0"/>
              <a:t>is written</a:t>
            </a:r>
          </a:p>
          <a:p>
            <a:pPr lvl="1"/>
            <a:r>
              <a:rPr lang="en-US" dirty="0"/>
              <a:t>Write down your best parameters for the competition!</a:t>
            </a:r>
          </a:p>
          <a:p>
            <a:pPr lvl="1"/>
            <a:endParaRPr lang="en-US" dirty="0"/>
          </a:p>
          <a:p>
            <a:r>
              <a:rPr lang="en-US" dirty="0"/>
              <a:t>GIT: </a:t>
            </a:r>
            <a:r>
              <a:rPr lang="en-US" dirty="0">
                <a:hlinkClick r:id="rId2"/>
              </a:rPr>
              <a:t>https://github.com/alboeh/iCSC-2026-exercise.git</a:t>
            </a:r>
            <a:r>
              <a:rPr lang="en-US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DB7016-D1BB-4DA9-2E5A-48332337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34E7FA-6C9B-349A-6675-6555E8F7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1846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A3ECC-9601-92EC-35BE-A85736FA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notebook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3B3AF2-9D8D-7A7B-644E-9FA133C6C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Login to SWAN: </a:t>
            </a:r>
            <a:r>
              <a:rPr lang="de-AT" b="1" dirty="0">
                <a:hlinkClick r:id="rId2"/>
              </a:rPr>
              <a:t>https://swan.cern.ch</a:t>
            </a:r>
            <a:endParaRPr lang="en-US" dirty="0"/>
          </a:p>
          <a:p>
            <a:pPr lvl="1"/>
            <a:r>
              <a:rPr lang="en-US" dirty="0"/>
              <a:t>Non-</a:t>
            </a:r>
            <a:r>
              <a:rPr lang="en-US" dirty="0" err="1"/>
              <a:t>cern</a:t>
            </a:r>
            <a:r>
              <a:rPr lang="en-US" dirty="0"/>
              <a:t> users can get licenses from the CSC team</a:t>
            </a:r>
          </a:p>
          <a:p>
            <a:r>
              <a:rPr lang="en-US" dirty="0"/>
              <a:t>Start session</a:t>
            </a:r>
          </a:p>
          <a:p>
            <a:pPr lvl="1"/>
            <a:r>
              <a:rPr lang="en-US" dirty="0"/>
              <a:t>New </a:t>
            </a:r>
            <a:r>
              <a:rPr lang="en-US" dirty="0" err="1"/>
              <a:t>JupyterLab</a:t>
            </a:r>
            <a:r>
              <a:rPr lang="en-US" dirty="0"/>
              <a:t> interface</a:t>
            </a:r>
          </a:p>
          <a:p>
            <a:pPr lvl="1"/>
            <a:r>
              <a:rPr lang="en-US" dirty="0"/>
              <a:t>LCG curated stack, General purpose Software stack (108)</a:t>
            </a:r>
          </a:p>
          <a:p>
            <a:pPr lvl="1"/>
            <a:r>
              <a:rPr lang="en-US" dirty="0"/>
              <a:t>Check “Use python packages installed on </a:t>
            </a:r>
            <a:r>
              <a:rPr lang="en-US" dirty="0" err="1"/>
              <a:t>CERNBox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Use 4 CPU and 16 GB RAM</a:t>
            </a:r>
          </a:p>
          <a:p>
            <a:r>
              <a:rPr lang="en-US" dirty="0"/>
              <a:t>Click left on Git and clone exercise rep,</a:t>
            </a:r>
            <a:br>
              <a:rPr lang="en-US" dirty="0"/>
            </a:br>
            <a:r>
              <a:rPr lang="en-US" dirty="0"/>
              <a:t>include submodules and download rep, </a:t>
            </a:r>
            <a:br>
              <a:rPr lang="en-US" dirty="0"/>
            </a:br>
            <a:r>
              <a:rPr lang="en-US" b="1" dirty="0"/>
              <a:t>ignore error msg</a:t>
            </a:r>
          </a:p>
          <a:p>
            <a:r>
              <a:rPr lang="en-US" dirty="0"/>
              <a:t>Open exercises/</a:t>
            </a:r>
            <a:r>
              <a:rPr lang="en-US" dirty="0" err="1"/>
              <a:t>InvPendulum.ipynb</a:t>
            </a:r>
            <a:r>
              <a:rPr lang="en-US" dirty="0"/>
              <a:t> (</a:t>
            </a:r>
            <a:r>
              <a:rPr lang="en-US" b="1" dirty="0"/>
              <a:t>not solution</a:t>
            </a:r>
            <a:r>
              <a:rPr lang="en-US" dirty="0"/>
              <a:t>!)</a:t>
            </a:r>
          </a:p>
          <a:p>
            <a:pPr lvl="1"/>
            <a:r>
              <a:rPr lang="en-US" dirty="0"/>
              <a:t>Use “</a:t>
            </a:r>
            <a:r>
              <a:rPr lang="en-US" dirty="0" err="1"/>
              <a:t>show_animation</a:t>
            </a:r>
            <a:r>
              <a:rPr lang="en-US" dirty="0"/>
              <a:t>” function wisely, its time consuming</a:t>
            </a:r>
          </a:p>
          <a:p>
            <a:r>
              <a:rPr lang="en-US" b="1" dirty="0"/>
              <a:t>Alternatively</a:t>
            </a:r>
            <a:r>
              <a:rPr lang="en-US" dirty="0"/>
              <a:t>: Clone on your local machine, may be faster!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684F58-D347-21CE-5E1C-301FA035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53339D-D070-F051-A8A5-64AADB99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7" name="Grafik 6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6F2672DF-2EEB-7061-8CD2-A2F9841FB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726" y="572294"/>
            <a:ext cx="3353534" cy="3429000"/>
          </a:xfrm>
          <a:prstGeom prst="rect">
            <a:avLst/>
          </a:prstGeom>
        </p:spPr>
      </p:pic>
      <p:pic>
        <p:nvPicPr>
          <p:cNvPr id="9" name="Grafik 8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B5D5D52-59A8-003D-51DF-B3F2CB20D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804" y="4313816"/>
            <a:ext cx="3159996" cy="130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6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9B29-6C74-E2B3-2E04-1D54E694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56FEA-E2E8-64B3-ADCD-2748953B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PID control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F2C9F2-9A37-6017-046E-79B47B49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ED6106-1208-8921-9B7A-C00D1DE5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6" name="Picture 4" descr="PID Tuning in Dynamic Simulators">
            <a:extLst>
              <a:ext uri="{FF2B5EF4-FFF2-40B4-BE49-F238E27FC236}">
                <a16:creationId xmlns:a16="http://schemas.microsoft.com/office/drawing/2014/main" id="{3C8C9EFE-C7A8-B5D5-554D-0E2B6E0C8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341" y="2270142"/>
            <a:ext cx="6459317" cy="346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31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D99C0-CA2E-BF47-1289-8771F1FF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Exercise 1 (PID)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04643A-A139-F647-B014-06546736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CEEA08-E646-CCD7-3862-E2CA3912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CD65119-F2AC-2002-B937-16ECC599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475" y="1690688"/>
            <a:ext cx="6063049" cy="4547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49EF788-DAED-3CA1-2567-54CBB3D90DE4}"/>
                  </a:ext>
                </a:extLst>
              </p:cNvPr>
              <p:cNvSpPr txBox="1"/>
              <p:nvPr/>
            </p:nvSpPr>
            <p:spPr>
              <a:xfrm>
                <a:off x="579738" y="2541128"/>
                <a:ext cx="2743199" cy="1775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There is not the “optimal” solution!</a:t>
                </a:r>
              </a:p>
              <a:p>
                <a:endParaRPr lang="en-US" dirty="0"/>
              </a:p>
              <a:p>
                <a:r>
                  <a:rPr lang="en-US" dirty="0"/>
                  <a:t>I found this PD </a:t>
                </a:r>
                <a:r>
                  <a:rPr lang="en-US" dirty="0" err="1"/>
                  <a:t>okayish</a:t>
                </a:r>
                <a:r>
                  <a:rPr lang="en-US" dirty="0"/>
                  <a:t>, which was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49EF788-DAED-3CA1-2567-54CBB3D90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38" y="2541128"/>
                <a:ext cx="2743199" cy="1775743"/>
              </a:xfrm>
              <a:prstGeom prst="rect">
                <a:avLst/>
              </a:prstGeom>
              <a:blipFill>
                <a:blip r:embed="rId3"/>
                <a:stretch>
                  <a:fillRect l="-1843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C003FA29-853E-E070-8C22-1A7B2E93C71D}"/>
              </a:ext>
            </a:extLst>
          </p:cNvPr>
          <p:cNvSpPr txBox="1"/>
          <p:nvPr/>
        </p:nvSpPr>
        <p:spPr>
          <a:xfrm>
            <a:off x="9157131" y="1748156"/>
            <a:ext cx="3034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400" dirty="0">
                <a:solidFill>
                  <a:srgbClr val="C00000"/>
                </a:solidFill>
              </a:rPr>
              <a:t>This </a:t>
            </a:r>
            <a:r>
              <a:rPr lang="de-AT" sz="2400" dirty="0" err="1">
                <a:solidFill>
                  <a:srgbClr val="C00000"/>
                </a:solidFill>
              </a:rPr>
              <a:t>is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the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reason</a:t>
            </a:r>
            <a:r>
              <a:rPr lang="en-US" sz="2400" dirty="0">
                <a:solidFill>
                  <a:srgbClr val="C00000"/>
                </a:solidFill>
              </a:rPr>
              <a:t> we want a State-space controller!</a:t>
            </a:r>
            <a:endParaRPr lang="de-AT" sz="2400" dirty="0">
              <a:solidFill>
                <a:srgbClr val="C00000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36034BA-90C2-0703-513D-CEE43531E33B}"/>
              </a:ext>
            </a:extLst>
          </p:cNvPr>
          <p:cNvCxnSpPr>
            <a:cxnSpLocks/>
          </p:cNvCxnSpPr>
          <p:nvPr/>
        </p:nvCxnSpPr>
        <p:spPr>
          <a:xfrm flipH="1">
            <a:off x="9011887" y="2948485"/>
            <a:ext cx="1527464" cy="1082862"/>
          </a:xfrm>
          <a:prstGeom prst="straightConnector1">
            <a:avLst/>
          </a:prstGeom>
          <a:ln>
            <a:solidFill>
              <a:srgbClr val="E222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37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8E6F-308A-6CF8-88CF-13AA6B4D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51D8C-16F6-CE0E-83CF-C8100A05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State-Space control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5705E1-5998-D271-B7C4-CD963307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005E3A-0B10-842D-EC4E-B079B632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1026" name="Picture 2" descr="My OCD : r/Stormworks">
            <a:extLst>
              <a:ext uri="{FF2B5EF4-FFF2-40B4-BE49-F238E27FC236}">
                <a16:creationId xmlns:a16="http://schemas.microsoft.com/office/drawing/2014/main" id="{13965450-BBEF-1D5A-DAFC-154593237C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65" y="1825625"/>
            <a:ext cx="287786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72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E46F-B5C1-F77D-F46D-7ED342DE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03FC9A-A7C6-D339-F6B0-36DCB310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Exercise 2 (LQR)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6913C2-6626-E6D0-FD9D-B433167F8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410FE6-117C-95EE-77EA-B88F8F96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Inhaltsplatzhalter 16">
                <a:extLst>
                  <a:ext uri="{FF2B5EF4-FFF2-40B4-BE49-F238E27FC236}">
                    <a16:creationId xmlns:a16="http://schemas.microsoft.com/office/drawing/2014/main" id="{3D4FB851-0E0E-DB69-5B7D-7DBFC8BFF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de-AT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4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num>
                                        <m:den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num>
                                        <m:den>
                                          <m:r>
                                            <a:rPr lang="de-AT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de-AT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de-AT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p>
                                              <m:r>
                                                <a:rPr lang="de-AT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AT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groupChr>
                      </m:e>
                      <m:lim>
                        <m:eqArr>
                          <m:eqArrPr>
                            <m:ctrlPr>
                              <a:rPr lang="de-AT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r>
                              <a:rPr lang="de-AT" b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eqAr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en-US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de-AT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de-AT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AT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AT" b="0" i="1" smtClean="0"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AT" b="0" i="1" smtClean="0"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de-AT" b="0" i="1" smtClean="0"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de-AT" b="0" i="1" smtClean="0"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AT" b="0" i="1" smtClean="0"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de-AT" b="0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groupChr>
                      </m:e>
                      <m:lim>
                        <m:eqArr>
                          <m:eqArrPr>
                            <m:ctrlPr>
                              <a:rPr lang="de-AT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r>
                              <a:rPr lang="de-AT" b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</m:eqArr>
                      </m:lim>
                    </m:limLow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Lets have a look into the code together!</a:t>
                </a:r>
              </a:p>
            </p:txBody>
          </p:sp>
        </mc:Choice>
        <mc:Fallback xmlns="">
          <p:sp>
            <p:nvSpPr>
              <p:cNvPr id="17" name="Inhaltsplatzhalter 16">
                <a:extLst>
                  <a:ext uri="{FF2B5EF4-FFF2-40B4-BE49-F238E27FC236}">
                    <a16:creationId xmlns:a16="http://schemas.microsoft.com/office/drawing/2014/main" id="{3D4FB851-0E0E-DB69-5B7D-7DBFC8BFF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31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97701-DDFD-5A6A-BDAC-92438920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5A663-F094-BAF0-90F2-0ACD2E97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Exercise 2 (LQR)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ACEDC6-600C-7C30-EE0F-F9826B66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92AB2D-7A19-7CE8-6B71-649779F8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16823019-D637-FD6A-6A15-4761702F6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690688"/>
            <a:ext cx="5801784" cy="4351338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BEB62F7-836F-5A03-E8CA-9F3A1CD98E79}"/>
              </a:ext>
            </a:extLst>
          </p:cNvPr>
          <p:cNvSpPr txBox="1"/>
          <p:nvPr/>
        </p:nvSpPr>
        <p:spPr>
          <a:xfrm>
            <a:off x="9157131" y="1748156"/>
            <a:ext cx="3034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400" dirty="0" err="1">
                <a:solidFill>
                  <a:srgbClr val="C00000"/>
                </a:solidFill>
              </a:rPr>
              <a:t>Everything</a:t>
            </a:r>
            <a:r>
              <a:rPr lang="de-AT" sz="2400" dirty="0">
                <a:solidFill>
                  <a:srgbClr val="C00000"/>
                </a:solidFill>
              </a:rPr>
              <a:t> smooth and </a:t>
            </a:r>
            <a:r>
              <a:rPr lang="de-AT" sz="2400" dirty="0" err="1">
                <a:solidFill>
                  <a:srgbClr val="C00000"/>
                </a:solidFill>
              </a:rPr>
              <a:t>stable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now</a:t>
            </a:r>
            <a:r>
              <a:rPr lang="de-AT" sz="2400" dirty="0">
                <a:solidFill>
                  <a:srgbClr val="C00000"/>
                </a:solidFill>
              </a:rPr>
              <a:t> :)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4CFBA0B-47FD-F941-C681-95AA88F3FDB7}"/>
              </a:ext>
            </a:extLst>
          </p:cNvPr>
          <p:cNvCxnSpPr>
            <a:cxnSpLocks/>
          </p:cNvCxnSpPr>
          <p:nvPr/>
        </p:nvCxnSpPr>
        <p:spPr>
          <a:xfrm flipH="1">
            <a:off x="9011887" y="2579153"/>
            <a:ext cx="1268935" cy="1452194"/>
          </a:xfrm>
          <a:prstGeom prst="straightConnector1">
            <a:avLst/>
          </a:prstGeom>
          <a:ln>
            <a:solidFill>
              <a:srgbClr val="E222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2CACEA85-9B4C-A01C-E6BF-012E556F3A33}"/>
              </a:ext>
            </a:extLst>
          </p:cNvPr>
          <p:cNvSpPr txBox="1"/>
          <p:nvPr/>
        </p:nvSpPr>
        <p:spPr>
          <a:xfrm>
            <a:off x="579738" y="2541128"/>
            <a:ext cx="2743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I </a:t>
            </a:r>
            <a:r>
              <a:rPr lang="de-AT" dirty="0" err="1"/>
              <a:t>used</a:t>
            </a:r>
            <a:endParaRPr lang="de-AT" dirty="0"/>
          </a:p>
          <a:p>
            <a:r>
              <a:rPr lang="de-AT" dirty="0"/>
              <a:t>Q=(100, 1, 1000, 1)</a:t>
            </a:r>
          </a:p>
          <a:p>
            <a:r>
              <a:rPr lang="de-AT" dirty="0"/>
              <a:t>And R=100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6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D8549-E6FC-8E01-565F-B33287BB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A9DEF-C23F-13E5-1600-6764D452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Exercise 3 (step)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DA5C4A-655E-8066-1EDA-2FD2639B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6F42DA-1AA2-5B66-3709-470BC8E7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160DC08-277F-5731-D34E-86CBE84AE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7F788AF-8A12-E9C0-B02A-36212410AB0A}"/>
              </a:ext>
            </a:extLst>
          </p:cNvPr>
          <p:cNvSpPr txBox="1"/>
          <p:nvPr/>
        </p:nvSpPr>
        <p:spPr>
          <a:xfrm>
            <a:off x="9157131" y="1166842"/>
            <a:ext cx="30348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400" dirty="0" err="1">
                <a:solidFill>
                  <a:srgbClr val="C00000"/>
                </a:solidFill>
              </a:rPr>
              <a:t>We</a:t>
            </a:r>
            <a:r>
              <a:rPr lang="de-AT" sz="2400" dirty="0">
                <a:solidFill>
                  <a:srgbClr val="C00000"/>
                </a:solidFill>
              </a:rPr>
              <a:t> just </a:t>
            </a:r>
            <a:r>
              <a:rPr lang="de-AT" sz="2400" dirty="0" err="1">
                <a:solidFill>
                  <a:srgbClr val="C00000"/>
                </a:solidFill>
              </a:rPr>
              <a:t>want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to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change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phi</a:t>
            </a:r>
            <a:r>
              <a:rPr lang="de-AT" sz="2400" dirty="0">
                <a:solidFill>
                  <a:srgbClr val="C00000"/>
                </a:solidFill>
              </a:rPr>
              <a:t>. </a:t>
            </a:r>
            <a:r>
              <a:rPr lang="de-AT" sz="2400" dirty="0" err="1">
                <a:solidFill>
                  <a:srgbClr val="C00000"/>
                </a:solidFill>
              </a:rPr>
              <a:t>Nevertheless</a:t>
            </a:r>
            <a:r>
              <a:rPr lang="de-AT" sz="2400" dirty="0">
                <a:solidFill>
                  <a:srgbClr val="C00000"/>
                </a:solidFill>
              </a:rPr>
              <a:t>, </a:t>
            </a:r>
            <a:r>
              <a:rPr lang="de-AT" sz="2400" dirty="0" err="1">
                <a:solidFill>
                  <a:srgbClr val="C00000"/>
                </a:solidFill>
              </a:rPr>
              <a:t>the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controller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did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something</a:t>
            </a:r>
            <a:r>
              <a:rPr lang="de-AT" sz="2400" dirty="0">
                <a:solidFill>
                  <a:srgbClr val="C00000"/>
                </a:solidFill>
              </a:rPr>
              <a:t> „</a:t>
            </a:r>
            <a:r>
              <a:rPr lang="de-AT" sz="2400" dirty="0" err="1">
                <a:solidFill>
                  <a:srgbClr val="C00000"/>
                </a:solidFill>
              </a:rPr>
              <a:t>wrong</a:t>
            </a:r>
            <a:r>
              <a:rPr lang="de-AT" sz="2400" dirty="0">
                <a:solidFill>
                  <a:srgbClr val="C00000"/>
                </a:solidFill>
              </a:rPr>
              <a:t>“ </a:t>
            </a:r>
            <a:r>
              <a:rPr lang="de-AT" sz="2400" dirty="0" err="1">
                <a:solidFill>
                  <a:srgbClr val="C00000"/>
                </a:solidFill>
              </a:rPr>
              <a:t>here</a:t>
            </a:r>
            <a:r>
              <a:rPr lang="de-AT" sz="2400" dirty="0">
                <a:solidFill>
                  <a:srgbClr val="C00000"/>
                </a:solidFill>
              </a:rPr>
              <a:t> on </a:t>
            </a:r>
            <a:r>
              <a:rPr lang="de-AT" sz="2400" dirty="0" err="1">
                <a:solidFill>
                  <a:srgbClr val="C00000"/>
                </a:solidFill>
              </a:rPr>
              <a:t>purpose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by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counteracting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the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motion</a:t>
            </a:r>
            <a:r>
              <a:rPr lang="de-AT" sz="2400" dirty="0">
                <a:solidFill>
                  <a:srgbClr val="C00000"/>
                </a:solidFill>
              </a:rPr>
              <a:t>! </a:t>
            </a:r>
          </a:p>
          <a:p>
            <a:pPr algn="ctr"/>
            <a:r>
              <a:rPr lang="de-AT" sz="2400" dirty="0">
                <a:solidFill>
                  <a:srgbClr val="C00000"/>
                </a:solidFill>
              </a:rPr>
              <a:t>A PID </a:t>
            </a:r>
            <a:r>
              <a:rPr lang="de-AT" sz="2400" dirty="0" err="1">
                <a:solidFill>
                  <a:srgbClr val="C00000"/>
                </a:solidFill>
              </a:rPr>
              <a:t>would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never</a:t>
            </a:r>
            <a:r>
              <a:rPr lang="de-AT" sz="2400" dirty="0">
                <a:solidFill>
                  <a:srgbClr val="C00000"/>
                </a:solidFill>
              </a:rPr>
              <a:t> do </a:t>
            </a:r>
            <a:r>
              <a:rPr lang="de-AT" sz="2400" dirty="0" err="1">
                <a:solidFill>
                  <a:srgbClr val="C00000"/>
                </a:solidFill>
              </a:rPr>
              <a:t>that</a:t>
            </a:r>
            <a:r>
              <a:rPr lang="de-AT" sz="2400" dirty="0">
                <a:solidFill>
                  <a:srgbClr val="C00000"/>
                </a:solidFill>
              </a:rPr>
              <a:t>, </a:t>
            </a:r>
            <a:r>
              <a:rPr lang="de-AT" sz="2400" dirty="0" err="1">
                <a:solidFill>
                  <a:srgbClr val="C00000"/>
                </a:solidFill>
              </a:rPr>
              <a:t>because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it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is</a:t>
            </a:r>
            <a:r>
              <a:rPr lang="de-AT" sz="2400" dirty="0">
                <a:solidFill>
                  <a:srgbClr val="C00000"/>
                </a:solidFill>
              </a:rPr>
              <a:t> „stupid“. A LQR </a:t>
            </a:r>
            <a:r>
              <a:rPr lang="de-AT" sz="2400" dirty="0" err="1">
                <a:solidFill>
                  <a:srgbClr val="C00000"/>
                </a:solidFill>
              </a:rPr>
              <a:t>instead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knows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the</a:t>
            </a:r>
            <a:r>
              <a:rPr lang="de-AT" sz="2400" dirty="0">
                <a:solidFill>
                  <a:srgbClr val="C00000"/>
                </a:solidFill>
              </a:rPr>
              <a:t> </a:t>
            </a:r>
            <a:r>
              <a:rPr lang="de-AT" sz="2400" dirty="0" err="1">
                <a:solidFill>
                  <a:srgbClr val="C00000"/>
                </a:solidFill>
              </a:rPr>
              <a:t>system</a:t>
            </a:r>
            <a:r>
              <a:rPr lang="de-AT" sz="2400" dirty="0">
                <a:solidFill>
                  <a:srgbClr val="C00000"/>
                </a:solidFill>
              </a:rPr>
              <a:t> and </a:t>
            </a:r>
            <a:r>
              <a:rPr lang="de-AT" sz="2400" dirty="0" err="1">
                <a:solidFill>
                  <a:srgbClr val="C00000"/>
                </a:solidFill>
              </a:rPr>
              <a:t>is</a:t>
            </a:r>
            <a:r>
              <a:rPr lang="de-AT" sz="2400" dirty="0">
                <a:solidFill>
                  <a:srgbClr val="C00000"/>
                </a:solidFill>
              </a:rPr>
              <a:t> smarter!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1570838-381A-1CAB-0CEA-726FF9C5D748}"/>
              </a:ext>
            </a:extLst>
          </p:cNvPr>
          <p:cNvCxnSpPr>
            <a:cxnSpLocks/>
          </p:cNvCxnSpPr>
          <p:nvPr/>
        </p:nvCxnSpPr>
        <p:spPr>
          <a:xfrm flipH="1">
            <a:off x="5745738" y="1870075"/>
            <a:ext cx="3535360" cy="546710"/>
          </a:xfrm>
          <a:prstGeom prst="straightConnector1">
            <a:avLst/>
          </a:prstGeom>
          <a:ln>
            <a:solidFill>
              <a:srgbClr val="E2220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77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80E7-1214-77D8-B635-3003660C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65208-860A-7A39-4265-30CB82A5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BONUS Exercise (LQI)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ED489D-D8CF-DA40-32C8-DE6BEE01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9EDB12-768F-CE05-01DB-5F777F46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2BBD503-BFA6-0890-7798-FD70D6F7A34C}"/>
              </a:ext>
            </a:extLst>
          </p:cNvPr>
          <p:cNvSpPr txBox="1"/>
          <p:nvPr/>
        </p:nvSpPr>
        <p:spPr>
          <a:xfrm>
            <a:off x="579738" y="2541128"/>
            <a:ext cx="2743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I </a:t>
            </a:r>
            <a:r>
              <a:rPr lang="de-AT" dirty="0" err="1"/>
              <a:t>used</a:t>
            </a:r>
            <a:endParaRPr lang="de-AT" dirty="0"/>
          </a:p>
          <a:p>
            <a:r>
              <a:rPr lang="de-AT" dirty="0"/>
              <a:t>Q=(100, 1, 1000, 1, 50000)</a:t>
            </a:r>
          </a:p>
          <a:p>
            <a:r>
              <a:rPr lang="de-AT" dirty="0"/>
              <a:t>And R=100 </a:t>
            </a:r>
            <a:endParaRPr lang="en-US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D482F2EE-83A7-61E5-76A5-8915BBE00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42887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D9F17-30A3-C9DC-E890-B2FEBBA0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DE72ED-DDF9-8D3D-6D20-E548ED68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45E35F-DE6B-5D3F-CD9F-576E9CB7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171F0-C3BD-07F1-73D0-58B6B360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</p:spTree>
    <p:extLst>
      <p:ext uri="{BB962C8B-B14F-4D97-AF65-F5344CB8AC3E}">
        <p14:creationId xmlns:p14="http://schemas.microsoft.com/office/powerpoint/2010/main" val="203310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687AA8-5F4C-C55A-0285-2697865C9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4A7D84-0296-1FA5-FA0C-C5824EB4B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your LQR / LQI values!</a:t>
            </a:r>
          </a:p>
          <a:p>
            <a:r>
              <a:rPr lang="en-US" dirty="0"/>
              <a:t>Sequence of positions (0° </a:t>
            </a:r>
            <a:r>
              <a:rPr lang="en-US" dirty="0">
                <a:sym typeface="Wingdings" pitchFamily="2" charset="2"/>
              </a:rPr>
              <a:t> 30°  -30°  0°, each for 5s)</a:t>
            </a:r>
            <a:endParaRPr lang="en-US" dirty="0"/>
          </a:p>
          <a:p>
            <a:r>
              <a:rPr lang="en-US" dirty="0"/>
              <a:t>Score = RMS(theta) + 1/10 * RMS(phi)</a:t>
            </a:r>
          </a:p>
          <a:p>
            <a:pPr lvl="1"/>
            <a:r>
              <a:rPr lang="en-US" dirty="0"/>
              <a:t>RMS only from 5 seconds on, so you have initially time to stabilize!</a:t>
            </a:r>
          </a:p>
          <a:p>
            <a:r>
              <a:rPr lang="en-US" dirty="0"/>
              <a:t>1x try per group during the exercise, 1 final shot!</a:t>
            </a:r>
          </a:p>
          <a:p>
            <a:endParaRPr lang="en-US" dirty="0"/>
          </a:p>
          <a:p>
            <a:r>
              <a:rPr lang="en-US" b="1" dirty="0"/>
              <a:t>Lowest score is the winner! </a:t>
            </a:r>
            <a:r>
              <a:rPr lang="en-US" b="1" dirty="0">
                <a:sym typeface="Wingdings" pitchFamily="2" charset="2"/>
              </a:rPr>
              <a:t></a:t>
            </a:r>
            <a:endParaRPr lang="en-US" b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73D178-A5C6-5427-9C15-DD88FBC4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B0D5C1-E268-7FA8-7185-8F3ED857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15914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6E58-EC82-2EB6-2044-EEFA6D7B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A99D5-3B6F-64C0-7EE8-982D3FE8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0D23B1-A984-41D9-F593-639376475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Example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Lowest score is the winner! </a:t>
            </a:r>
            <a:r>
              <a:rPr lang="en-US" b="1" dirty="0">
                <a:sym typeface="Wingdings" pitchFamily="2" charset="2"/>
              </a:rPr>
              <a:t></a:t>
            </a:r>
            <a:endParaRPr lang="en-US" b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6DF472-0C5D-ABD8-E194-746AA5A9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4AF757-F64F-4763-9342-A6738B53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A3DAD38-BF5E-237A-D7B7-C1C9A4E26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52619"/>
            <a:ext cx="5665794" cy="453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3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1C37-AE9F-23AA-88FD-AB2CF4C1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BA6F5-E6A7-A275-B6F2-5328D2B1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C3EF6D-74B8-6A7E-A7D3-CA38A8BA1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87CD67-16C0-303E-2D0A-5572A3488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17 MAR 2026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17FC7F-3EC4-F337-4D66-87FB9C2E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iCSC 2026 || Alexander Böhmer       alexander.boehmer@oeaw.ac.at</a:t>
            </a:r>
          </a:p>
        </p:txBody>
      </p:sp>
    </p:spTree>
    <p:extLst>
      <p:ext uri="{BB962C8B-B14F-4D97-AF65-F5344CB8AC3E}">
        <p14:creationId xmlns:p14="http://schemas.microsoft.com/office/powerpoint/2010/main" val="1448449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39C4-5EAC-B186-7332-742FB536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57E7E-02C7-C97B-7677-366D7164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questions…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0F47AD-D30C-41FF-4148-2A465A854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PID or LQR better for the inverted pendulum?</a:t>
            </a:r>
          </a:p>
          <a:p>
            <a:endParaRPr lang="en-US" dirty="0"/>
          </a:p>
          <a:p>
            <a:r>
              <a:rPr lang="en-US" dirty="0"/>
              <a:t>Which PID parameters and method you used? Which LQR weights?</a:t>
            </a:r>
          </a:p>
          <a:p>
            <a:pPr lvl="1"/>
            <a:endParaRPr lang="en-US" dirty="0"/>
          </a:p>
          <a:p>
            <a:r>
              <a:rPr lang="en-US" dirty="0"/>
              <a:t>How much of a difference you noticed between the simulated and the real pendulum?</a:t>
            </a:r>
          </a:p>
          <a:p>
            <a:pPr lvl="1"/>
            <a:endParaRPr lang="en-US" dirty="0"/>
          </a:p>
          <a:p>
            <a:r>
              <a:rPr lang="en-US" dirty="0"/>
              <a:t>Has the winning team got the “best” controller? Or were they lucky?</a:t>
            </a:r>
          </a:p>
          <a:p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A71FB4-E0FB-2279-E079-97F53280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C2030A-5352-6A60-44B8-4C2550AF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014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224F-D995-22CD-96D2-B26AD76A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B7017-D408-B99A-3F2F-FEF4F5A4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some answers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4823DA-AA99-69EC-9675-21528524A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Is a PID or LQR better for the inverted pendulum?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It depends in general! But here the LQR was better, it counteracted the motion</a:t>
            </a:r>
            <a:endParaRPr lang="en-US" dirty="0"/>
          </a:p>
          <a:p>
            <a:r>
              <a:rPr lang="en-US" dirty="0"/>
              <a:t>Which PID parameters and method you used? Which LQR weights?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ZN is hard if system is intrinsically non-linear. PD worked best for me. I weighted theta and phi the strongest, the velocities not that much.</a:t>
            </a:r>
          </a:p>
          <a:p>
            <a:r>
              <a:rPr lang="en-US" dirty="0"/>
              <a:t>How much of a difference you noticed between the simulated and the real pendulum?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Even though the simulation ran on non-linearized equations, it is nearly impossible to simulate it perfectly. Many things were not fully described, like the stepper dynamics, friction models, and much more!</a:t>
            </a:r>
          </a:p>
          <a:p>
            <a:r>
              <a:rPr lang="en-US" dirty="0"/>
              <a:t>Has the winning team got the “best” controller? Or were they just lucky?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There is not something like a “best” controller. Maybe they build the “best” in keeping the pole vertically, but this is always a trade-off. E. g. maybe other groups had better results in terms of robustness (so more stable for big disturbances)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31B35D-E4B3-83B8-60DB-EE9231C1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 dirty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5C305-ACB1-D928-9B41-313F5511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38623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1A04-F21C-D16F-C171-B11E84E1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73FF4-D3FA-6D9A-7BF4-F8C7BF2E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8B995-63C5-3BBA-E305-025D73B3E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PID </a:t>
            </a:r>
          </a:p>
          <a:p>
            <a:pPr lvl="1"/>
            <a:r>
              <a:rPr lang="en-US" dirty="0"/>
              <a:t>No description of system necessary, fast solution</a:t>
            </a:r>
          </a:p>
          <a:p>
            <a:pPr lvl="1"/>
            <a:r>
              <a:rPr lang="en-US" dirty="0"/>
              <a:t>Only one output can be controlled (without further ado)</a:t>
            </a:r>
          </a:p>
          <a:p>
            <a:pPr lvl="1"/>
            <a:r>
              <a:rPr lang="en-US" dirty="0"/>
              <a:t>SISSO systems</a:t>
            </a:r>
          </a:p>
          <a:p>
            <a:pPr lvl="1"/>
            <a:endParaRPr lang="en-US" dirty="0"/>
          </a:p>
          <a:p>
            <a:r>
              <a:rPr lang="en-US" dirty="0"/>
              <a:t>State-Space</a:t>
            </a:r>
          </a:p>
          <a:p>
            <a:pPr lvl="1"/>
            <a:r>
              <a:rPr lang="en-US" dirty="0"/>
              <a:t>Modelling necessary</a:t>
            </a:r>
          </a:p>
          <a:p>
            <a:pPr lvl="1"/>
            <a:r>
              <a:rPr lang="en-US" dirty="0"/>
              <a:t>Therefore full state controllable</a:t>
            </a:r>
          </a:p>
          <a:p>
            <a:pPr lvl="1"/>
            <a:endParaRPr lang="en-US" dirty="0"/>
          </a:p>
          <a:p>
            <a:r>
              <a:rPr lang="en-US" b="1" dirty="0"/>
              <a:t>YES: Most of the life of a control engineer is to understand the system and find a good linearization, not the control itself </a:t>
            </a:r>
            <a:r>
              <a:rPr lang="en-US" b="1" dirty="0">
                <a:sym typeface="Wingdings" pitchFamily="2" charset="2"/>
              </a:rPr>
              <a:t></a:t>
            </a:r>
            <a:endParaRPr lang="en-US" b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200F40-22BA-C0F3-B9C1-96F09625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19F1D3-8830-57E2-21C8-B3D0DCB4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iCSC 2026 || Alexander Böhmer       alexander.boehmer@oeaw.ac.at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46305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CE38-CCBA-24FA-BFBB-22BB898E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7B321-4F2C-129D-99CF-8ABB3791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4C78C4-06CF-DBC4-AB84-A4533432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 noProof="0"/>
              <a:t>17 MAR 2026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EF9C9A-AA68-50E1-2584-74FAA09D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 err="1"/>
              <a:t>iCSC</a:t>
            </a:r>
            <a:r>
              <a:rPr lang="en-GB" noProof="0" dirty="0"/>
              <a:t> 2026 || Alexander Böhmer       </a:t>
            </a:r>
            <a:r>
              <a:rPr lang="en-GB" noProof="0" dirty="0" err="1"/>
              <a:t>alexander.boehmer@oeaw.ac.at</a:t>
            </a:r>
            <a:endParaRPr lang="en-GB" noProof="0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E6FC42B-FB47-3257-6863-FC415F72B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https://www.youtube.com/watch?v=Rh7JuL3PRSY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Full git project (with all plots, examples, </a:t>
            </a:r>
            <a:r>
              <a:rPr lang="en-US" dirty="0" err="1"/>
              <a:t>etc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hlinkClick r:id="rId3"/>
              </a:rPr>
              <a:t>https://github.com/alboeh/iCSC-2026-full.git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8864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Microsoft Macintosh PowerPoint</Application>
  <PresentationFormat>Breitbild</PresentationFormat>
  <Paragraphs>147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Aptos</vt:lpstr>
      <vt:lpstr>Arial</vt:lpstr>
      <vt:lpstr>Cambria Math</vt:lpstr>
      <vt:lpstr>Garamond</vt:lpstr>
      <vt:lpstr>Wingdings</vt:lpstr>
      <vt:lpstr>Office</vt:lpstr>
      <vt:lpstr>Keeping Things Stable</vt:lpstr>
      <vt:lpstr>Overview</vt:lpstr>
      <vt:lpstr>Inverted pendulum</vt:lpstr>
      <vt:lpstr>Exercise procedure</vt:lpstr>
      <vt:lpstr>Run the notebook</vt:lpstr>
      <vt:lpstr>Exercise 1: PID control</vt:lpstr>
      <vt:lpstr>Solutions Exercise 1 (PID)</vt:lpstr>
      <vt:lpstr>Exercise 2: State-Space control</vt:lpstr>
      <vt:lpstr>Solutions Exercise 2 (LQR)</vt:lpstr>
      <vt:lpstr>Solutions Exercise 2 (LQR)</vt:lpstr>
      <vt:lpstr>Solutions Exercise 3 (step)</vt:lpstr>
      <vt:lpstr>Solutions BONUS Exercise (LQI)</vt:lpstr>
      <vt:lpstr>Competition</vt:lpstr>
      <vt:lpstr>The rules</vt:lpstr>
      <vt:lpstr>The rules</vt:lpstr>
      <vt:lpstr>Discussions</vt:lpstr>
      <vt:lpstr>Some questions…</vt:lpstr>
      <vt:lpstr>… and some answers</vt:lpstr>
      <vt:lpstr>Take-aways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Böhmer</dc:creator>
  <cp:lastModifiedBy>Alexander Böhmer</cp:lastModifiedBy>
  <cp:revision>204</cp:revision>
  <dcterms:created xsi:type="dcterms:W3CDTF">2025-09-02T14:12:50Z</dcterms:created>
  <dcterms:modified xsi:type="dcterms:W3CDTF">2026-03-12T16:10:52Z</dcterms:modified>
</cp:coreProperties>
</file>